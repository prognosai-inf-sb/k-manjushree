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 MT Pro Bold" charset="1" panose="020B0802020202020204"/>
      <p:regular r:id="rId17"/>
    </p:embeddedFont>
    <p:embeddedFont>
      <p:font typeface="Arial MT Pro" charset="1" panose="020B0502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infyspringboard.onwingspan.com" TargetMode="External" Type="http://schemas.openxmlformats.org/officeDocument/2006/relationships/hyperlink"/><Relationship Id="rId3" Target="https://www.geeksforgeeks.org" TargetMode="External" Type="http://schemas.openxmlformats.org/officeDocument/2006/relationships/hyperlink"/><Relationship Id="rId4" Target="https://www.kaggle.com" TargetMode="External" Type="http://schemas.openxmlformats.org/officeDocument/2006/relationships/hyperlink"/><Relationship Id="rId5" Target="https://www.tensorflow.org" TargetMode="External" Type="http://schemas.openxmlformats.org/officeDocument/2006/relationships/hyperlink"/><Relationship Id="rId6" Target="https://keras.io/api" TargetMode="External" Type="http://schemas.openxmlformats.org/officeDocument/2006/relationships/hyperlink"/><Relationship Id="rId7" Target="https://docs.streamlit.io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0854" y="8540858"/>
            <a:ext cx="4455084" cy="953042"/>
            <a:chOff x="0" y="0"/>
            <a:chExt cx="1899754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9754" cy="406400"/>
            </a:xfrm>
            <a:custGeom>
              <a:avLst/>
              <a:gdLst/>
              <a:ahLst/>
              <a:cxnLst/>
              <a:rect r="r" b="b" t="t" l="l"/>
              <a:pathLst>
                <a:path h="406400" w="1899754">
                  <a:moveTo>
                    <a:pt x="1696554" y="0"/>
                  </a:moveTo>
                  <a:cubicBezTo>
                    <a:pt x="1808778" y="0"/>
                    <a:pt x="1899754" y="90976"/>
                    <a:pt x="1899754" y="203200"/>
                  </a:cubicBezTo>
                  <a:cubicBezTo>
                    <a:pt x="1899754" y="315424"/>
                    <a:pt x="1808778" y="406400"/>
                    <a:pt x="1696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997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74355" y="524688"/>
            <a:ext cx="14939290" cy="10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7"/>
              </a:lnSpc>
            </a:pPr>
            <a:r>
              <a:rPr lang="en-US" b="true" sz="4178" spc="-6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PrognosAI: AI-Driven Predictive Maintenance System Using Time-Series Sensor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7755" y="8849813"/>
            <a:ext cx="4641281" cy="36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6"/>
              </a:lnSpc>
            </a:pPr>
            <a:r>
              <a:rPr lang="en-US" sz="26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Presented by: Manjushree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8146" y="2637040"/>
            <a:ext cx="17600365" cy="158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3"/>
              </a:lnSpc>
            </a:pPr>
            <a:r>
              <a:rPr lang="en-US" b="true" sz="3378" spc="-5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Objective</a:t>
            </a:r>
          </a:p>
          <a:p>
            <a:pPr algn="just">
              <a:lnSpc>
                <a:spcPts val="2973"/>
              </a:lnSpc>
            </a:pPr>
          </a:p>
          <a:p>
            <a:pPr algn="just">
              <a:lnSpc>
                <a:spcPts val="2973"/>
              </a:lnSpc>
            </a:pPr>
            <a:r>
              <a:rPr lang="en-US" sz="3378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design an AI-based system that predicts equipment failure using time-series sensor data, enabling timely maintenance and minimizing downtime.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8146" y="4877447"/>
            <a:ext cx="17600365" cy="1213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73"/>
              </a:lnSpc>
            </a:pPr>
            <a:r>
              <a:rPr lang="en-US" b="true" sz="3378" spc="-5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Tools &amp; Frameworks</a:t>
            </a:r>
          </a:p>
          <a:p>
            <a:pPr algn="just">
              <a:lnSpc>
                <a:spcPts val="2973"/>
              </a:lnSpc>
            </a:pPr>
          </a:p>
          <a:p>
            <a:pPr algn="just">
              <a:lnSpc>
                <a:spcPts val="2973"/>
              </a:lnSpc>
            </a:pPr>
            <a:r>
              <a:rPr lang="en-US" sz="3378" spc="-5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Python · TensorFlow · Keras · Streamlit · Docker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011154">
            <a:off x="14044924" y="1464134"/>
            <a:ext cx="17403374" cy="18180272"/>
            <a:chOff x="0" y="0"/>
            <a:chExt cx="4583605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63302" y="546526"/>
            <a:ext cx="5503719" cy="1259123"/>
            <a:chOff x="0" y="0"/>
            <a:chExt cx="1776404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6404" cy="406400"/>
            </a:xfrm>
            <a:custGeom>
              <a:avLst/>
              <a:gdLst/>
              <a:ahLst/>
              <a:cxnLst/>
              <a:rect r="r" b="b" t="t" l="l"/>
              <a:pathLst>
                <a:path h="406400" w="1776404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7957" y="756844"/>
            <a:ext cx="7070946" cy="8326029"/>
            <a:chOff x="0" y="0"/>
            <a:chExt cx="993576" cy="11699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3576" cy="1169935"/>
            </a:xfrm>
            <a:custGeom>
              <a:avLst/>
              <a:gdLst/>
              <a:ahLst/>
              <a:cxnLst/>
              <a:rect r="r" b="b" t="t" l="l"/>
              <a:pathLst>
                <a:path h="1169935" w="993576">
                  <a:moveTo>
                    <a:pt x="53650" y="0"/>
                  </a:moveTo>
                  <a:lnTo>
                    <a:pt x="939927" y="0"/>
                  </a:lnTo>
                  <a:cubicBezTo>
                    <a:pt x="954156" y="0"/>
                    <a:pt x="967802" y="5652"/>
                    <a:pt x="977863" y="15714"/>
                  </a:cubicBezTo>
                  <a:cubicBezTo>
                    <a:pt x="987924" y="25775"/>
                    <a:pt x="993576" y="39421"/>
                    <a:pt x="993576" y="53650"/>
                  </a:cubicBezTo>
                  <a:lnTo>
                    <a:pt x="993576" y="1116285"/>
                  </a:lnTo>
                  <a:cubicBezTo>
                    <a:pt x="993576" y="1130514"/>
                    <a:pt x="987924" y="1144160"/>
                    <a:pt x="977863" y="1154221"/>
                  </a:cubicBezTo>
                  <a:cubicBezTo>
                    <a:pt x="967802" y="1164283"/>
                    <a:pt x="954156" y="1169935"/>
                    <a:pt x="939927" y="1169935"/>
                  </a:cubicBezTo>
                  <a:lnTo>
                    <a:pt x="53650" y="1169935"/>
                  </a:lnTo>
                  <a:cubicBezTo>
                    <a:pt x="39421" y="1169935"/>
                    <a:pt x="25775" y="1164283"/>
                    <a:pt x="15714" y="1154221"/>
                  </a:cubicBezTo>
                  <a:cubicBezTo>
                    <a:pt x="5652" y="1144160"/>
                    <a:pt x="0" y="1130514"/>
                    <a:pt x="0" y="1116285"/>
                  </a:cubicBezTo>
                  <a:lnTo>
                    <a:pt x="0" y="53650"/>
                  </a:lnTo>
                  <a:cubicBezTo>
                    <a:pt x="0" y="39421"/>
                    <a:pt x="5652" y="25775"/>
                    <a:pt x="15714" y="15714"/>
                  </a:cubicBezTo>
                  <a:cubicBezTo>
                    <a:pt x="25775" y="5652"/>
                    <a:pt x="39421" y="0"/>
                    <a:pt x="53650" y="0"/>
                  </a:cubicBezTo>
                  <a:close/>
                </a:path>
              </a:pathLst>
            </a:custGeom>
            <a:blipFill>
              <a:blip r:embed="rId2"/>
              <a:stretch>
                <a:fillRect l="-18204" t="0" r="-5886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54482" y="4949018"/>
            <a:ext cx="5784422" cy="3959411"/>
            <a:chOff x="0" y="0"/>
            <a:chExt cx="1523469" cy="10428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3469" cy="1042808"/>
            </a:xfrm>
            <a:custGeom>
              <a:avLst/>
              <a:gdLst/>
              <a:ahLst/>
              <a:cxnLst/>
              <a:rect r="r" b="b" t="t" l="l"/>
              <a:pathLst>
                <a:path h="1042808" w="1523469">
                  <a:moveTo>
                    <a:pt x="68259" y="0"/>
                  </a:moveTo>
                  <a:lnTo>
                    <a:pt x="1455210" y="0"/>
                  </a:lnTo>
                  <a:cubicBezTo>
                    <a:pt x="1473314" y="0"/>
                    <a:pt x="1490675" y="7192"/>
                    <a:pt x="1503476" y="19993"/>
                  </a:cubicBezTo>
                  <a:cubicBezTo>
                    <a:pt x="1516278" y="32794"/>
                    <a:pt x="1523469" y="50155"/>
                    <a:pt x="1523469" y="68259"/>
                  </a:cubicBezTo>
                  <a:lnTo>
                    <a:pt x="1523469" y="974549"/>
                  </a:lnTo>
                  <a:cubicBezTo>
                    <a:pt x="1523469" y="1012247"/>
                    <a:pt x="1492908" y="1042808"/>
                    <a:pt x="1455210" y="1042808"/>
                  </a:cubicBezTo>
                  <a:lnTo>
                    <a:pt x="68259" y="1042808"/>
                  </a:lnTo>
                  <a:cubicBezTo>
                    <a:pt x="50155" y="1042808"/>
                    <a:pt x="32794" y="1035616"/>
                    <a:pt x="19993" y="1022815"/>
                  </a:cubicBezTo>
                  <a:cubicBezTo>
                    <a:pt x="7192" y="1010014"/>
                    <a:pt x="0" y="992652"/>
                    <a:pt x="0" y="974549"/>
                  </a:cubicBezTo>
                  <a:lnTo>
                    <a:pt x="0" y="68259"/>
                  </a:lnTo>
                  <a:cubicBezTo>
                    <a:pt x="0" y="30561"/>
                    <a:pt x="30561" y="0"/>
                    <a:pt x="682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523469" cy="1023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32970" y="2262850"/>
            <a:ext cx="5434050" cy="705218"/>
            <a:chOff x="0" y="0"/>
            <a:chExt cx="1417549" cy="1839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32970" y="3253947"/>
            <a:ext cx="5434050" cy="705218"/>
            <a:chOff x="0" y="0"/>
            <a:chExt cx="1417549" cy="1839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32970" y="4243800"/>
            <a:ext cx="5434050" cy="705218"/>
            <a:chOff x="0" y="0"/>
            <a:chExt cx="1417549" cy="1839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932970" y="5233653"/>
            <a:ext cx="5434050" cy="705218"/>
            <a:chOff x="0" y="0"/>
            <a:chExt cx="1417549" cy="1839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32970" y="6223506"/>
            <a:ext cx="5434050" cy="705218"/>
            <a:chOff x="0" y="0"/>
            <a:chExt cx="1417549" cy="1839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932970" y="7213358"/>
            <a:ext cx="5434050" cy="705218"/>
            <a:chOff x="0" y="0"/>
            <a:chExt cx="1417549" cy="1839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32970" y="8203211"/>
            <a:ext cx="5434050" cy="705218"/>
            <a:chOff x="0" y="0"/>
            <a:chExt cx="1417549" cy="1839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254359" y="2371462"/>
            <a:ext cx="4791273" cy="5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Milestone 1: Data Preparation &amp; Feature Engineering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54359" y="3473379"/>
            <a:ext cx="4282620" cy="28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Milestone 2: Model Development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54359" y="4500574"/>
            <a:ext cx="4282620" cy="28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Milestone 3: Model Evaluation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76474" y="5342265"/>
            <a:ext cx="4769158" cy="5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Milestone 4: Risk Thresholding &amp; Alert System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76474" y="6500846"/>
            <a:ext cx="4791273" cy="28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Milestone 5: Visualization &amp; Dashboard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54359" y="7490699"/>
            <a:ext cx="3088392" cy="28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Conclusion &amp; Future Work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72074" y="767731"/>
            <a:ext cx="3686175" cy="71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6"/>
              </a:lnSpc>
              <a:spcBef>
                <a:spcPct val="0"/>
              </a:spcBef>
            </a:pPr>
            <a:r>
              <a:rPr lang="en-US" sz="37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Table of contents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54359" y="8385302"/>
            <a:ext cx="3088392" cy="28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8330" y="6038363"/>
            <a:ext cx="16090970" cy="3309700"/>
            <a:chOff x="0" y="0"/>
            <a:chExt cx="4237951" cy="871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7951" cy="871690"/>
            </a:xfrm>
            <a:custGeom>
              <a:avLst/>
              <a:gdLst/>
              <a:ahLst/>
              <a:cxnLst/>
              <a:rect r="r" b="b" t="t" l="l"/>
              <a:pathLst>
                <a:path h="871690" w="4237951">
                  <a:moveTo>
                    <a:pt x="18283" y="0"/>
                  </a:moveTo>
                  <a:lnTo>
                    <a:pt x="4219668" y="0"/>
                  </a:lnTo>
                  <a:cubicBezTo>
                    <a:pt x="4229765" y="0"/>
                    <a:pt x="4237951" y="8186"/>
                    <a:pt x="4237951" y="18283"/>
                  </a:cubicBezTo>
                  <a:lnTo>
                    <a:pt x="4237951" y="853407"/>
                  </a:lnTo>
                  <a:cubicBezTo>
                    <a:pt x="4237951" y="863505"/>
                    <a:pt x="4229765" y="871690"/>
                    <a:pt x="4219668" y="871690"/>
                  </a:cubicBezTo>
                  <a:lnTo>
                    <a:pt x="18283" y="871690"/>
                  </a:lnTo>
                  <a:cubicBezTo>
                    <a:pt x="8186" y="871690"/>
                    <a:pt x="0" y="863505"/>
                    <a:pt x="0" y="853407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37951" cy="85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8330" y="1083369"/>
            <a:ext cx="16090970" cy="4515361"/>
            <a:chOff x="0" y="0"/>
            <a:chExt cx="4237951" cy="1189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37951" cy="1189231"/>
            </a:xfrm>
            <a:custGeom>
              <a:avLst/>
              <a:gdLst/>
              <a:ahLst/>
              <a:cxnLst/>
              <a:rect r="r" b="b" t="t" l="l"/>
              <a:pathLst>
                <a:path h="1189231" w="4237951">
                  <a:moveTo>
                    <a:pt x="18283" y="0"/>
                  </a:moveTo>
                  <a:lnTo>
                    <a:pt x="4219668" y="0"/>
                  </a:lnTo>
                  <a:cubicBezTo>
                    <a:pt x="4229765" y="0"/>
                    <a:pt x="4237951" y="8186"/>
                    <a:pt x="4237951" y="18283"/>
                  </a:cubicBezTo>
                  <a:lnTo>
                    <a:pt x="4237951" y="1170948"/>
                  </a:lnTo>
                  <a:cubicBezTo>
                    <a:pt x="4237951" y="1181045"/>
                    <a:pt x="4229765" y="1189231"/>
                    <a:pt x="4219668" y="1189231"/>
                  </a:cubicBezTo>
                  <a:lnTo>
                    <a:pt x="18283" y="1189231"/>
                  </a:lnTo>
                  <a:cubicBezTo>
                    <a:pt x="13434" y="1189231"/>
                    <a:pt x="8784" y="1187305"/>
                    <a:pt x="5355" y="1183876"/>
                  </a:cubicBezTo>
                  <a:cubicBezTo>
                    <a:pt x="1926" y="1180447"/>
                    <a:pt x="0" y="1175797"/>
                    <a:pt x="0" y="1170948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4237951" cy="117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218446" y="7001389"/>
            <a:ext cx="1806512" cy="1383648"/>
          </a:xfrm>
          <a:custGeom>
            <a:avLst/>
            <a:gdLst/>
            <a:ahLst/>
            <a:cxnLst/>
            <a:rect r="r" b="b" t="t" l="l"/>
            <a:pathLst>
              <a:path h="1383648" w="1806512">
                <a:moveTo>
                  <a:pt x="0" y="0"/>
                </a:moveTo>
                <a:lnTo>
                  <a:pt x="1806513" y="0"/>
                </a:lnTo>
                <a:lnTo>
                  <a:pt x="1806513" y="1383648"/>
                </a:lnTo>
                <a:lnTo>
                  <a:pt x="0" y="138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3548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83771" y="6257580"/>
            <a:ext cx="11035389" cy="2871266"/>
          </a:xfrm>
          <a:custGeom>
            <a:avLst/>
            <a:gdLst/>
            <a:ahLst/>
            <a:cxnLst/>
            <a:rect r="r" b="b" t="t" l="l"/>
            <a:pathLst>
              <a:path h="2871266" w="11035389">
                <a:moveTo>
                  <a:pt x="0" y="0"/>
                </a:moveTo>
                <a:lnTo>
                  <a:pt x="11035389" y="0"/>
                </a:lnTo>
                <a:lnTo>
                  <a:pt x="11035389" y="2871266"/>
                </a:lnTo>
                <a:lnTo>
                  <a:pt x="0" y="2871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21" t="-46" r="0" b="-4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1136" y="230419"/>
            <a:ext cx="16797122" cy="79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5066" spc="-21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Milestone 1: Data Preparation &amp; 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3580" y="1243932"/>
            <a:ext cx="15100469" cy="384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Objective: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Prepare CMAPSS sensor data for modeling.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 Steps: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Cleaned raw time-series data (removed missing &amp; noisy readings).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Normalized 21 sensor values using MinMaxScaler.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Calculated Remaining Useful Life (RUL) for each engine cycle.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Created rolling window sequences for model input.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Outcome: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Dataset ready for deep learning model training.</a:t>
            </a:r>
          </a:p>
          <a:p>
            <a:pPr algn="l">
              <a:lnSpc>
                <a:spcPts val="30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8330" y="1083369"/>
            <a:ext cx="16090970" cy="4515361"/>
            <a:chOff x="0" y="0"/>
            <a:chExt cx="4237951" cy="1189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7951" cy="1189231"/>
            </a:xfrm>
            <a:custGeom>
              <a:avLst/>
              <a:gdLst/>
              <a:ahLst/>
              <a:cxnLst/>
              <a:rect r="r" b="b" t="t" l="l"/>
              <a:pathLst>
                <a:path h="1189231" w="4237951">
                  <a:moveTo>
                    <a:pt x="18283" y="0"/>
                  </a:moveTo>
                  <a:lnTo>
                    <a:pt x="4219668" y="0"/>
                  </a:lnTo>
                  <a:cubicBezTo>
                    <a:pt x="4229765" y="0"/>
                    <a:pt x="4237951" y="8186"/>
                    <a:pt x="4237951" y="18283"/>
                  </a:cubicBezTo>
                  <a:lnTo>
                    <a:pt x="4237951" y="1170948"/>
                  </a:lnTo>
                  <a:cubicBezTo>
                    <a:pt x="4237951" y="1181045"/>
                    <a:pt x="4229765" y="1189231"/>
                    <a:pt x="4219668" y="1189231"/>
                  </a:cubicBezTo>
                  <a:lnTo>
                    <a:pt x="18283" y="1189231"/>
                  </a:lnTo>
                  <a:cubicBezTo>
                    <a:pt x="13434" y="1189231"/>
                    <a:pt x="8784" y="1187305"/>
                    <a:pt x="5355" y="1183876"/>
                  </a:cubicBezTo>
                  <a:cubicBezTo>
                    <a:pt x="1926" y="1180447"/>
                    <a:pt x="0" y="1175797"/>
                    <a:pt x="0" y="1170948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37951" cy="117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18446" y="7001389"/>
            <a:ext cx="1806512" cy="1383648"/>
          </a:xfrm>
          <a:custGeom>
            <a:avLst/>
            <a:gdLst/>
            <a:ahLst/>
            <a:cxnLst/>
            <a:rect r="r" b="b" t="t" l="l"/>
            <a:pathLst>
              <a:path h="1383648" w="1806512">
                <a:moveTo>
                  <a:pt x="0" y="0"/>
                </a:moveTo>
                <a:lnTo>
                  <a:pt x="1806513" y="0"/>
                </a:lnTo>
                <a:lnTo>
                  <a:pt x="1806513" y="1383648"/>
                </a:lnTo>
                <a:lnTo>
                  <a:pt x="0" y="138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3548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68330" y="4667214"/>
            <a:ext cx="8121615" cy="5224368"/>
            <a:chOff x="0" y="0"/>
            <a:chExt cx="1258251" cy="8093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8251" cy="809391"/>
            </a:xfrm>
            <a:custGeom>
              <a:avLst/>
              <a:gdLst/>
              <a:ahLst/>
              <a:cxnLst/>
              <a:rect r="r" b="b" t="t" l="l"/>
              <a:pathLst>
                <a:path h="809391" w="1258251">
                  <a:moveTo>
                    <a:pt x="21925" y="0"/>
                  </a:moveTo>
                  <a:lnTo>
                    <a:pt x="1236326" y="0"/>
                  </a:lnTo>
                  <a:cubicBezTo>
                    <a:pt x="1248435" y="0"/>
                    <a:pt x="1258251" y="9816"/>
                    <a:pt x="1258251" y="21925"/>
                  </a:cubicBezTo>
                  <a:lnTo>
                    <a:pt x="1258251" y="787467"/>
                  </a:lnTo>
                  <a:cubicBezTo>
                    <a:pt x="1258251" y="799575"/>
                    <a:pt x="1248435" y="809391"/>
                    <a:pt x="1236326" y="809391"/>
                  </a:cubicBezTo>
                  <a:lnTo>
                    <a:pt x="21925" y="809391"/>
                  </a:lnTo>
                  <a:cubicBezTo>
                    <a:pt x="9816" y="809391"/>
                    <a:pt x="0" y="799575"/>
                    <a:pt x="0" y="787467"/>
                  </a:cubicBezTo>
                  <a:lnTo>
                    <a:pt x="0" y="21925"/>
                  </a:lnTo>
                  <a:cubicBezTo>
                    <a:pt x="0" y="9816"/>
                    <a:pt x="9816" y="0"/>
                    <a:pt x="21925" y="0"/>
                  </a:cubicBezTo>
                  <a:close/>
                </a:path>
              </a:pathLst>
            </a:custGeom>
            <a:blipFill>
              <a:blip r:embed="rId4"/>
              <a:stretch>
                <a:fillRect l="-1461" t="0" r="-146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9945" y="4667214"/>
            <a:ext cx="7969355" cy="5224368"/>
            <a:chOff x="0" y="0"/>
            <a:chExt cx="1234662" cy="809391"/>
          </a:xfrm>
        </p:grpSpPr>
        <p:sp>
          <p:nvSpPr>
            <p:cNvPr name="Freeform 9" id="9"/>
            <p:cNvSpPr/>
            <p:nvPr/>
          </p:nvSpPr>
          <p:spPr>
            <a:xfrm flipH="false" flipV="false" rot="-24000">
              <a:off x="-2740" y="-4230"/>
              <a:ext cx="1240143" cy="817807"/>
            </a:xfrm>
            <a:custGeom>
              <a:avLst/>
              <a:gdLst/>
              <a:ahLst/>
              <a:cxnLst/>
              <a:rect r="r" b="b" t="t" l="l"/>
              <a:pathLst>
                <a:path h="817807" w="1240143">
                  <a:moveTo>
                    <a:pt x="27923" y="86"/>
                  </a:moveTo>
                  <a:lnTo>
                    <a:pt x="1217869" y="8394"/>
                  </a:lnTo>
                  <a:cubicBezTo>
                    <a:pt x="1230209" y="8480"/>
                    <a:pt x="1240142" y="18553"/>
                    <a:pt x="1240056" y="30893"/>
                  </a:cubicBezTo>
                  <a:lnTo>
                    <a:pt x="1234717" y="795578"/>
                  </a:lnTo>
                  <a:cubicBezTo>
                    <a:pt x="1234676" y="801504"/>
                    <a:pt x="1232282" y="807171"/>
                    <a:pt x="1228063" y="811331"/>
                  </a:cubicBezTo>
                  <a:cubicBezTo>
                    <a:pt x="1223844" y="815492"/>
                    <a:pt x="1218144" y="817807"/>
                    <a:pt x="1212218" y="817765"/>
                  </a:cubicBezTo>
                  <a:lnTo>
                    <a:pt x="22273" y="809458"/>
                  </a:lnTo>
                  <a:cubicBezTo>
                    <a:pt x="9933" y="809372"/>
                    <a:pt x="0" y="799298"/>
                    <a:pt x="86" y="786959"/>
                  </a:cubicBezTo>
                  <a:lnTo>
                    <a:pt x="5424" y="22273"/>
                  </a:lnTo>
                  <a:cubicBezTo>
                    <a:pt x="5510" y="9933"/>
                    <a:pt x="15584" y="0"/>
                    <a:pt x="27923" y="86"/>
                  </a:cubicBezTo>
                  <a:close/>
                </a:path>
              </a:pathLst>
            </a:custGeom>
            <a:blipFill>
              <a:blip r:embed="rId5"/>
              <a:stretch>
                <a:fillRect l="-12" t="-763" r="-41783" b="-674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26323" y="230419"/>
            <a:ext cx="16797122" cy="79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5066" spc="-21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Milestone 2: Model Development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6843" y="1198242"/>
            <a:ext cx="15100469" cy="3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Goal: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Design and train a deep learning model to predict RUL.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Approach: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Implemented Bidirectional LSTM for sequence learning.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</a:t>
            </a: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ayers: Bi-LSTM(128) → Dropout → Bi-LSTM(64) → Dense → Output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Op</a:t>
            </a: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timizer: Adam | Loss: MSE | Epochs: 50 | Batch Size: 64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Outcome: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Trained model (optimized_fd1.h5) accurately captures temporal degradation patterns.</a:t>
            </a:r>
          </a:p>
          <a:p>
            <a:pPr algn="l">
              <a:lnSpc>
                <a:spcPts val="30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57406"/>
            <a:ext cx="16090970" cy="4515361"/>
            <a:chOff x="0" y="0"/>
            <a:chExt cx="4237951" cy="1189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7951" cy="1189231"/>
            </a:xfrm>
            <a:custGeom>
              <a:avLst/>
              <a:gdLst/>
              <a:ahLst/>
              <a:cxnLst/>
              <a:rect r="r" b="b" t="t" l="l"/>
              <a:pathLst>
                <a:path h="1189231" w="4237951">
                  <a:moveTo>
                    <a:pt x="18283" y="0"/>
                  </a:moveTo>
                  <a:lnTo>
                    <a:pt x="4219668" y="0"/>
                  </a:lnTo>
                  <a:cubicBezTo>
                    <a:pt x="4229765" y="0"/>
                    <a:pt x="4237951" y="8186"/>
                    <a:pt x="4237951" y="18283"/>
                  </a:cubicBezTo>
                  <a:lnTo>
                    <a:pt x="4237951" y="1170948"/>
                  </a:lnTo>
                  <a:cubicBezTo>
                    <a:pt x="4237951" y="1181045"/>
                    <a:pt x="4229765" y="1189231"/>
                    <a:pt x="4219668" y="1189231"/>
                  </a:cubicBezTo>
                  <a:lnTo>
                    <a:pt x="18283" y="1189231"/>
                  </a:lnTo>
                  <a:cubicBezTo>
                    <a:pt x="13434" y="1189231"/>
                    <a:pt x="8784" y="1187305"/>
                    <a:pt x="5355" y="1183876"/>
                  </a:cubicBezTo>
                  <a:cubicBezTo>
                    <a:pt x="1926" y="1180447"/>
                    <a:pt x="0" y="1175797"/>
                    <a:pt x="0" y="1170948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37951" cy="117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58053" y="230419"/>
            <a:ext cx="16797122" cy="79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5066" spc="-21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Milestone 3: Model 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3003" y="1951975"/>
            <a:ext cx="14228687" cy="423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Objective: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Evaluate model performance on unseen test data.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Met</a:t>
            </a: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rics   -    Metric Value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RMSE     -    35.3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MAE        -    </a:t>
            </a: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28.4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R²           -     0.76</a:t>
            </a:r>
          </a:p>
          <a:p>
            <a:pPr algn="l">
              <a:lnSpc>
                <a:spcPts val="3046"/>
              </a:lnSpc>
            </a:pP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</a:t>
            </a: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nsights: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Model successfully predicts future degradation.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</a:t>
            </a: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redicted RUL closely matches actual values.</a:t>
            </a:r>
          </a:p>
          <a:p>
            <a:pPr algn="l">
              <a:lnSpc>
                <a:spcPts val="3046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348295" y="1273188"/>
            <a:ext cx="9453168" cy="7428134"/>
            <a:chOff x="0" y="0"/>
            <a:chExt cx="1464543" cy="11508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4543" cy="1150812"/>
            </a:xfrm>
            <a:custGeom>
              <a:avLst/>
              <a:gdLst/>
              <a:ahLst/>
              <a:cxnLst/>
              <a:rect r="r" b="b" t="t" l="l"/>
              <a:pathLst>
                <a:path h="1150812" w="1464543">
                  <a:moveTo>
                    <a:pt x="18836" y="0"/>
                  </a:moveTo>
                  <a:lnTo>
                    <a:pt x="1445707" y="0"/>
                  </a:lnTo>
                  <a:cubicBezTo>
                    <a:pt x="1450702" y="0"/>
                    <a:pt x="1455494" y="1985"/>
                    <a:pt x="1459026" y="5517"/>
                  </a:cubicBezTo>
                  <a:cubicBezTo>
                    <a:pt x="1462558" y="9050"/>
                    <a:pt x="1464543" y="13841"/>
                    <a:pt x="1464543" y="18836"/>
                  </a:cubicBezTo>
                  <a:lnTo>
                    <a:pt x="1464543" y="1131976"/>
                  </a:lnTo>
                  <a:cubicBezTo>
                    <a:pt x="1464543" y="1142379"/>
                    <a:pt x="1456110" y="1150812"/>
                    <a:pt x="1445707" y="1150812"/>
                  </a:cubicBezTo>
                  <a:lnTo>
                    <a:pt x="18836" y="1150812"/>
                  </a:lnTo>
                  <a:cubicBezTo>
                    <a:pt x="13841" y="1150812"/>
                    <a:pt x="9050" y="1148828"/>
                    <a:pt x="5517" y="1145295"/>
                  </a:cubicBezTo>
                  <a:cubicBezTo>
                    <a:pt x="1985" y="1141763"/>
                    <a:pt x="0" y="1136971"/>
                    <a:pt x="0" y="1131976"/>
                  </a:cubicBezTo>
                  <a:lnTo>
                    <a:pt x="0" y="18836"/>
                  </a:lnTo>
                  <a:cubicBezTo>
                    <a:pt x="0" y="8433"/>
                    <a:pt x="8433" y="0"/>
                    <a:pt x="1883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93" r="0" b="-790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8330" y="6038363"/>
            <a:ext cx="16090970" cy="3309700"/>
            <a:chOff x="0" y="0"/>
            <a:chExt cx="4237951" cy="8716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7951" cy="871690"/>
            </a:xfrm>
            <a:custGeom>
              <a:avLst/>
              <a:gdLst/>
              <a:ahLst/>
              <a:cxnLst/>
              <a:rect r="r" b="b" t="t" l="l"/>
              <a:pathLst>
                <a:path h="871690" w="4237951">
                  <a:moveTo>
                    <a:pt x="18283" y="0"/>
                  </a:moveTo>
                  <a:lnTo>
                    <a:pt x="4219668" y="0"/>
                  </a:lnTo>
                  <a:cubicBezTo>
                    <a:pt x="4229765" y="0"/>
                    <a:pt x="4237951" y="8186"/>
                    <a:pt x="4237951" y="18283"/>
                  </a:cubicBezTo>
                  <a:lnTo>
                    <a:pt x="4237951" y="853407"/>
                  </a:lnTo>
                  <a:cubicBezTo>
                    <a:pt x="4237951" y="863505"/>
                    <a:pt x="4229765" y="871690"/>
                    <a:pt x="4219668" y="871690"/>
                  </a:cubicBezTo>
                  <a:lnTo>
                    <a:pt x="18283" y="871690"/>
                  </a:lnTo>
                  <a:cubicBezTo>
                    <a:pt x="8186" y="871690"/>
                    <a:pt x="0" y="863505"/>
                    <a:pt x="0" y="853407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37951" cy="85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8330" y="1083369"/>
            <a:ext cx="16090970" cy="4515361"/>
            <a:chOff x="0" y="0"/>
            <a:chExt cx="4237951" cy="1189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37951" cy="1189231"/>
            </a:xfrm>
            <a:custGeom>
              <a:avLst/>
              <a:gdLst/>
              <a:ahLst/>
              <a:cxnLst/>
              <a:rect r="r" b="b" t="t" l="l"/>
              <a:pathLst>
                <a:path h="1189231" w="4237951">
                  <a:moveTo>
                    <a:pt x="18283" y="0"/>
                  </a:moveTo>
                  <a:lnTo>
                    <a:pt x="4219668" y="0"/>
                  </a:lnTo>
                  <a:cubicBezTo>
                    <a:pt x="4229765" y="0"/>
                    <a:pt x="4237951" y="8186"/>
                    <a:pt x="4237951" y="18283"/>
                  </a:cubicBezTo>
                  <a:lnTo>
                    <a:pt x="4237951" y="1170948"/>
                  </a:lnTo>
                  <a:cubicBezTo>
                    <a:pt x="4237951" y="1181045"/>
                    <a:pt x="4229765" y="1189231"/>
                    <a:pt x="4219668" y="1189231"/>
                  </a:cubicBezTo>
                  <a:lnTo>
                    <a:pt x="18283" y="1189231"/>
                  </a:lnTo>
                  <a:cubicBezTo>
                    <a:pt x="13434" y="1189231"/>
                    <a:pt x="8784" y="1187305"/>
                    <a:pt x="5355" y="1183876"/>
                  </a:cubicBezTo>
                  <a:cubicBezTo>
                    <a:pt x="1926" y="1180447"/>
                    <a:pt x="0" y="1175797"/>
                    <a:pt x="0" y="1170948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4237951" cy="117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218446" y="7001389"/>
            <a:ext cx="1806512" cy="1383648"/>
          </a:xfrm>
          <a:custGeom>
            <a:avLst/>
            <a:gdLst/>
            <a:ahLst/>
            <a:cxnLst/>
            <a:rect r="r" b="b" t="t" l="l"/>
            <a:pathLst>
              <a:path h="1383648" w="1806512">
                <a:moveTo>
                  <a:pt x="0" y="0"/>
                </a:moveTo>
                <a:lnTo>
                  <a:pt x="1806513" y="0"/>
                </a:lnTo>
                <a:lnTo>
                  <a:pt x="1806513" y="1383648"/>
                </a:lnTo>
                <a:lnTo>
                  <a:pt x="0" y="138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3548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8711" y="5121463"/>
            <a:ext cx="7585104" cy="5143500"/>
          </a:xfrm>
          <a:custGeom>
            <a:avLst/>
            <a:gdLst/>
            <a:ahLst/>
            <a:cxnLst/>
            <a:rect r="r" b="b" t="t" l="l"/>
            <a:pathLst>
              <a:path h="5143500" w="7585104">
                <a:moveTo>
                  <a:pt x="0" y="0"/>
                </a:moveTo>
                <a:lnTo>
                  <a:pt x="7585104" y="0"/>
                </a:lnTo>
                <a:lnTo>
                  <a:pt x="758510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5" t="-16121" r="-1061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13815" y="5121463"/>
            <a:ext cx="8045485" cy="5143500"/>
          </a:xfrm>
          <a:custGeom>
            <a:avLst/>
            <a:gdLst/>
            <a:ahLst/>
            <a:cxnLst/>
            <a:rect r="r" b="b" t="t" l="l"/>
            <a:pathLst>
              <a:path h="5143500" w="8045485">
                <a:moveTo>
                  <a:pt x="0" y="0"/>
                </a:moveTo>
                <a:lnTo>
                  <a:pt x="8045485" y="0"/>
                </a:lnTo>
                <a:lnTo>
                  <a:pt x="804548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075" r="-5204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83771" y="230419"/>
            <a:ext cx="16797122" cy="79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5066" spc="-21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Milestone 4: Risk Thresholding &amp; Alert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3765" y="1177938"/>
            <a:ext cx="15100469" cy="423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Purpose: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Conve</a:t>
            </a: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rt predicted RUL into actionable maintenance alerts.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</a:t>
            </a: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efined Alert Levels :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Alert Level        -       Condition       -       Color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Normal               -      RUL &gt; 70         -      🟩 Green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Warning             -      RUL ≤ 50         -      🟧 Orange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Critical                -     RUL ≤ 20         -      🔴 Red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Outcome: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✅ CSV report generated showing alerts per engine cycle.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✅ En</a:t>
            </a: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ables preventive maintenance decisions.</a:t>
            </a:r>
          </a:p>
          <a:p>
            <a:pPr algn="l">
              <a:lnSpc>
                <a:spcPts val="30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8330" y="1083369"/>
            <a:ext cx="16090970" cy="4515361"/>
            <a:chOff x="0" y="0"/>
            <a:chExt cx="4237951" cy="1189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7951" cy="1189231"/>
            </a:xfrm>
            <a:custGeom>
              <a:avLst/>
              <a:gdLst/>
              <a:ahLst/>
              <a:cxnLst/>
              <a:rect r="r" b="b" t="t" l="l"/>
              <a:pathLst>
                <a:path h="1189231" w="4237951">
                  <a:moveTo>
                    <a:pt x="18283" y="0"/>
                  </a:moveTo>
                  <a:lnTo>
                    <a:pt x="4219668" y="0"/>
                  </a:lnTo>
                  <a:cubicBezTo>
                    <a:pt x="4229765" y="0"/>
                    <a:pt x="4237951" y="8186"/>
                    <a:pt x="4237951" y="18283"/>
                  </a:cubicBezTo>
                  <a:lnTo>
                    <a:pt x="4237951" y="1170948"/>
                  </a:lnTo>
                  <a:cubicBezTo>
                    <a:pt x="4237951" y="1181045"/>
                    <a:pt x="4229765" y="1189231"/>
                    <a:pt x="4219668" y="1189231"/>
                  </a:cubicBezTo>
                  <a:lnTo>
                    <a:pt x="18283" y="1189231"/>
                  </a:lnTo>
                  <a:cubicBezTo>
                    <a:pt x="13434" y="1189231"/>
                    <a:pt x="8784" y="1187305"/>
                    <a:pt x="5355" y="1183876"/>
                  </a:cubicBezTo>
                  <a:cubicBezTo>
                    <a:pt x="1926" y="1180447"/>
                    <a:pt x="0" y="1175797"/>
                    <a:pt x="0" y="1170948"/>
                  </a:cubicBezTo>
                  <a:lnTo>
                    <a:pt x="0" y="18283"/>
                  </a:lnTo>
                  <a:cubicBezTo>
                    <a:pt x="0" y="8186"/>
                    <a:pt x="8186" y="0"/>
                    <a:pt x="18283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237951" cy="117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94332" y="5846380"/>
            <a:ext cx="11301259" cy="4053646"/>
          </a:xfrm>
          <a:custGeom>
            <a:avLst/>
            <a:gdLst/>
            <a:ahLst/>
            <a:cxnLst/>
            <a:rect r="r" b="b" t="t" l="l"/>
            <a:pathLst>
              <a:path h="4053646" w="11301259">
                <a:moveTo>
                  <a:pt x="0" y="0"/>
                </a:moveTo>
                <a:lnTo>
                  <a:pt x="11301259" y="0"/>
                </a:lnTo>
                <a:lnTo>
                  <a:pt x="11301259" y="4053645"/>
                </a:lnTo>
                <a:lnTo>
                  <a:pt x="0" y="4053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72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57808" y="230419"/>
            <a:ext cx="16797122" cy="79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5066" spc="-21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Milestone 5: Visualization &amp;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3765" y="1177938"/>
            <a:ext cx="15100469" cy="3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Tool Used: </a:t>
            </a: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Streamlit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Features: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Interactive dashboard for RUL prediction visualization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Real-time alert color codes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Trend charts (Actual vs Predicted RUL)</a:t>
            </a:r>
          </a:p>
          <a:p>
            <a:pPr algn="l" marL="469858" indent="-234929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Exportable maintenance summary</a:t>
            </a:r>
          </a:p>
          <a:p>
            <a:pPr algn="l">
              <a:lnSpc>
                <a:spcPts val="3046"/>
              </a:lnSpc>
            </a:pPr>
            <a:r>
              <a:rPr lang="en-US" sz="21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Outcome:</a:t>
            </a:r>
          </a:p>
          <a:p>
            <a:pPr algn="l">
              <a:lnSpc>
                <a:spcPts val="3046"/>
              </a:lnSpc>
            </a:pPr>
            <a:r>
              <a:rPr lang="en-US" sz="21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Complete, user-friendly dashboard for continuous monitoring.</a:t>
            </a:r>
          </a:p>
          <a:p>
            <a:pPr algn="l">
              <a:lnSpc>
                <a:spcPts val="30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4775"/>
            <a:ext cx="18288000" cy="6686550"/>
            <a:chOff x="0" y="0"/>
            <a:chExt cx="4816593" cy="17610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761067"/>
            </a:xfrm>
            <a:custGeom>
              <a:avLst/>
              <a:gdLst/>
              <a:ahLst/>
              <a:cxnLst/>
              <a:rect r="r" b="b" t="t" l="l"/>
              <a:pathLst>
                <a:path h="17610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61067"/>
                  </a:lnTo>
                  <a:lnTo>
                    <a:pt x="0" y="1761067"/>
                  </a:lnTo>
                  <a:close/>
                </a:path>
              </a:pathLst>
            </a:custGeom>
            <a:gradFill rotWithShape="true">
              <a:gsLst>
                <a:gs pos="0">
                  <a:srgbClr val="2D2E34">
                    <a:alpha val="0"/>
                  </a:srgbClr>
                </a:gs>
                <a:gs pos="100000">
                  <a:srgbClr val="2D2E3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74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3983723" y="8384258"/>
            <a:ext cx="213796" cy="114284"/>
          </a:xfrm>
          <a:custGeom>
            <a:avLst/>
            <a:gdLst/>
            <a:ahLst/>
            <a:cxnLst/>
            <a:rect r="r" b="b" t="t" l="l"/>
            <a:pathLst>
              <a:path h="114284" w="213796">
                <a:moveTo>
                  <a:pt x="0" y="0"/>
                </a:moveTo>
                <a:lnTo>
                  <a:pt x="213796" y="0"/>
                </a:lnTo>
                <a:lnTo>
                  <a:pt x="213796" y="114283"/>
                </a:lnTo>
                <a:lnTo>
                  <a:pt x="0" y="11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93371" y="5458252"/>
            <a:ext cx="11301259" cy="3800048"/>
          </a:xfrm>
          <a:custGeom>
            <a:avLst/>
            <a:gdLst/>
            <a:ahLst/>
            <a:cxnLst/>
            <a:rect r="r" b="b" t="t" l="l"/>
            <a:pathLst>
              <a:path h="3800048" w="11301259">
                <a:moveTo>
                  <a:pt x="0" y="0"/>
                </a:moveTo>
                <a:lnTo>
                  <a:pt x="11301258" y="0"/>
                </a:lnTo>
                <a:lnTo>
                  <a:pt x="11301258" y="3800048"/>
                </a:lnTo>
                <a:lnTo>
                  <a:pt x="0" y="3800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231419"/>
            <a:ext cx="11301259" cy="4912081"/>
          </a:xfrm>
          <a:custGeom>
            <a:avLst/>
            <a:gdLst/>
            <a:ahLst/>
            <a:cxnLst/>
            <a:rect r="r" b="b" t="t" l="l"/>
            <a:pathLst>
              <a:path h="4912081" w="11301259">
                <a:moveTo>
                  <a:pt x="0" y="0"/>
                </a:moveTo>
                <a:lnTo>
                  <a:pt x="11301258" y="0"/>
                </a:lnTo>
                <a:lnTo>
                  <a:pt x="11301258" y="4912081"/>
                </a:lnTo>
                <a:lnTo>
                  <a:pt x="0" y="4912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40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1300" y="1236483"/>
            <a:ext cx="14611915" cy="2523128"/>
            <a:chOff x="0" y="0"/>
            <a:chExt cx="3811725" cy="6581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1725" cy="658194"/>
            </a:xfrm>
            <a:custGeom>
              <a:avLst/>
              <a:gdLst/>
              <a:ahLst/>
              <a:cxnLst/>
              <a:rect r="r" b="b" t="t" l="l"/>
              <a:pathLst>
                <a:path h="658194" w="3811725">
                  <a:moveTo>
                    <a:pt x="11127" y="0"/>
                  </a:moveTo>
                  <a:lnTo>
                    <a:pt x="3800599" y="0"/>
                  </a:lnTo>
                  <a:cubicBezTo>
                    <a:pt x="3803550" y="0"/>
                    <a:pt x="3806380" y="1172"/>
                    <a:pt x="3808467" y="3259"/>
                  </a:cubicBezTo>
                  <a:cubicBezTo>
                    <a:pt x="3810553" y="5346"/>
                    <a:pt x="3811725" y="8176"/>
                    <a:pt x="3811725" y="11127"/>
                  </a:cubicBezTo>
                  <a:lnTo>
                    <a:pt x="3811725" y="647067"/>
                  </a:lnTo>
                  <a:cubicBezTo>
                    <a:pt x="3811725" y="653212"/>
                    <a:pt x="3806744" y="658194"/>
                    <a:pt x="3800599" y="658194"/>
                  </a:cubicBezTo>
                  <a:lnTo>
                    <a:pt x="11127" y="658194"/>
                  </a:lnTo>
                  <a:cubicBezTo>
                    <a:pt x="8176" y="658194"/>
                    <a:pt x="5346" y="657022"/>
                    <a:pt x="3259" y="654935"/>
                  </a:cubicBezTo>
                  <a:cubicBezTo>
                    <a:pt x="1172" y="652848"/>
                    <a:pt x="0" y="650018"/>
                    <a:pt x="0" y="647067"/>
                  </a:cubicBezTo>
                  <a:lnTo>
                    <a:pt x="0" y="11127"/>
                  </a:lnTo>
                  <a:cubicBezTo>
                    <a:pt x="0" y="4982"/>
                    <a:pt x="4982" y="0"/>
                    <a:pt x="111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3811725" cy="63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20335" y="197301"/>
            <a:ext cx="7943039" cy="8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1"/>
              </a:lnSpc>
            </a:pPr>
            <a:r>
              <a:rPr lang="en-US" sz="5290" spc="-22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 &amp; 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75891" y="5866479"/>
            <a:ext cx="5085733" cy="158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Our financial performance is a reflection of our commitment to strategic planning, cost management, and operational efficiency. In the fiscal year 2024, we focused on enhancing profitability while ensuring compliance with financial regulations.</a:t>
            </a:r>
          </a:p>
        </p:txBody>
      </p:sp>
      <p:grpSp>
        <p:nvGrpSpPr>
          <p:cNvPr name="Group 7" id="7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45150" y="1348482"/>
            <a:ext cx="12693408" cy="229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Summary:</a:t>
            </a:r>
          </a:p>
          <a:p>
            <a:pPr algn="l" marL="491447" indent="-245724" lvl="1">
              <a:lnSpc>
                <a:spcPts val="3619"/>
              </a:lnSpc>
              <a:buFont typeface="Arial"/>
              <a:buChar char="•"/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Built end-to-end Predictive Maintenance AI system</a:t>
            </a:r>
          </a:p>
          <a:p>
            <a:pPr algn="l" marL="491447" indent="-245724" lvl="1">
              <a:lnSpc>
                <a:spcPts val="3619"/>
              </a:lnSpc>
              <a:buFont typeface="Arial"/>
              <a:buChar char="•"/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Achieved reliable RUL prediction accuracy</a:t>
            </a:r>
          </a:p>
          <a:p>
            <a:pPr algn="l" marL="491447" indent="-245724" lvl="1">
              <a:lnSpc>
                <a:spcPts val="3619"/>
              </a:lnSpc>
              <a:buFont typeface="Arial"/>
              <a:buChar char="•"/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Reduced downtime through early alerting</a:t>
            </a:r>
          </a:p>
          <a:p>
            <a:pPr algn="l">
              <a:lnSpc>
                <a:spcPts val="346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891300" y="5143500"/>
            <a:ext cx="14611915" cy="2523128"/>
            <a:chOff x="0" y="0"/>
            <a:chExt cx="3811725" cy="6581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1725" cy="658194"/>
            </a:xfrm>
            <a:custGeom>
              <a:avLst/>
              <a:gdLst/>
              <a:ahLst/>
              <a:cxnLst/>
              <a:rect r="r" b="b" t="t" l="l"/>
              <a:pathLst>
                <a:path h="658194" w="3811725">
                  <a:moveTo>
                    <a:pt x="11127" y="0"/>
                  </a:moveTo>
                  <a:lnTo>
                    <a:pt x="3800599" y="0"/>
                  </a:lnTo>
                  <a:cubicBezTo>
                    <a:pt x="3803550" y="0"/>
                    <a:pt x="3806380" y="1172"/>
                    <a:pt x="3808467" y="3259"/>
                  </a:cubicBezTo>
                  <a:cubicBezTo>
                    <a:pt x="3810553" y="5346"/>
                    <a:pt x="3811725" y="8176"/>
                    <a:pt x="3811725" y="11127"/>
                  </a:cubicBezTo>
                  <a:lnTo>
                    <a:pt x="3811725" y="647067"/>
                  </a:lnTo>
                  <a:cubicBezTo>
                    <a:pt x="3811725" y="653212"/>
                    <a:pt x="3806744" y="658194"/>
                    <a:pt x="3800599" y="658194"/>
                  </a:cubicBezTo>
                  <a:lnTo>
                    <a:pt x="11127" y="658194"/>
                  </a:lnTo>
                  <a:cubicBezTo>
                    <a:pt x="8176" y="658194"/>
                    <a:pt x="5346" y="657022"/>
                    <a:pt x="3259" y="654935"/>
                  </a:cubicBezTo>
                  <a:cubicBezTo>
                    <a:pt x="1172" y="652848"/>
                    <a:pt x="0" y="650018"/>
                    <a:pt x="0" y="647067"/>
                  </a:cubicBezTo>
                  <a:lnTo>
                    <a:pt x="0" y="11127"/>
                  </a:lnTo>
                  <a:cubicBezTo>
                    <a:pt x="0" y="4982"/>
                    <a:pt x="4982" y="0"/>
                    <a:pt x="111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811725" cy="63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87"/>
                </a:lnSpc>
              </a:pPr>
            </a:p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45150" y="5193373"/>
            <a:ext cx="12693408" cy="229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Future Enhancements:</a:t>
            </a:r>
          </a:p>
          <a:p>
            <a:pPr algn="l" marL="491447" indent="-245724" lvl="1">
              <a:lnSpc>
                <a:spcPts val="3619"/>
              </a:lnSpc>
              <a:buFont typeface="Arial"/>
              <a:buChar char="•"/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Integrate IoT sensor streams in real-time</a:t>
            </a:r>
          </a:p>
          <a:p>
            <a:pPr algn="l" marL="491447" indent="-245724" lvl="1">
              <a:lnSpc>
                <a:spcPts val="3619"/>
              </a:lnSpc>
              <a:buFont typeface="Arial"/>
              <a:buChar char="•"/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Use Transformer-based deep models</a:t>
            </a:r>
          </a:p>
          <a:p>
            <a:pPr algn="l" marL="491447" indent="-245724" lvl="1">
              <a:lnSpc>
                <a:spcPts val="3619"/>
              </a:lnSpc>
              <a:buFont typeface="Arial"/>
              <a:buChar char="•"/>
            </a:pPr>
            <a:r>
              <a:rPr lang="en-US" sz="22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Deploy on edge devices using Docker</a:t>
            </a:r>
          </a:p>
          <a:p>
            <a:pPr algn="l">
              <a:lnSpc>
                <a:spcPts val="346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4482" y="4580882"/>
            <a:ext cx="8679644" cy="4327547"/>
            <a:chOff x="0" y="0"/>
            <a:chExt cx="2285997" cy="11397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5997" cy="1139766"/>
            </a:xfrm>
            <a:custGeom>
              <a:avLst/>
              <a:gdLst/>
              <a:ahLst/>
              <a:cxnLst/>
              <a:rect r="r" b="b" t="t" l="l"/>
              <a:pathLst>
                <a:path h="1139766" w="2285997">
                  <a:moveTo>
                    <a:pt x="24975" y="0"/>
                  </a:moveTo>
                  <a:lnTo>
                    <a:pt x="2261022" y="0"/>
                  </a:lnTo>
                  <a:cubicBezTo>
                    <a:pt x="2267646" y="0"/>
                    <a:pt x="2273998" y="2631"/>
                    <a:pt x="2278682" y="7315"/>
                  </a:cubicBezTo>
                  <a:cubicBezTo>
                    <a:pt x="2283366" y="11999"/>
                    <a:pt x="2285997" y="18351"/>
                    <a:pt x="2285997" y="24975"/>
                  </a:cubicBezTo>
                  <a:lnTo>
                    <a:pt x="2285997" y="1114791"/>
                  </a:lnTo>
                  <a:cubicBezTo>
                    <a:pt x="2285997" y="1121414"/>
                    <a:pt x="2283366" y="1127767"/>
                    <a:pt x="2278682" y="1132451"/>
                  </a:cubicBezTo>
                  <a:cubicBezTo>
                    <a:pt x="2273998" y="1137134"/>
                    <a:pt x="2267646" y="1139766"/>
                    <a:pt x="2261022" y="1139766"/>
                  </a:cubicBezTo>
                  <a:lnTo>
                    <a:pt x="24975" y="1139766"/>
                  </a:lnTo>
                  <a:cubicBezTo>
                    <a:pt x="18351" y="1139766"/>
                    <a:pt x="11999" y="1137134"/>
                    <a:pt x="7315" y="1132451"/>
                  </a:cubicBezTo>
                  <a:cubicBezTo>
                    <a:pt x="2631" y="1127767"/>
                    <a:pt x="0" y="1121414"/>
                    <a:pt x="0" y="1114791"/>
                  </a:cubicBezTo>
                  <a:lnTo>
                    <a:pt x="0" y="24975"/>
                  </a:lnTo>
                  <a:cubicBezTo>
                    <a:pt x="0" y="18351"/>
                    <a:pt x="2631" y="11999"/>
                    <a:pt x="7315" y="7315"/>
                  </a:cubicBezTo>
                  <a:cubicBezTo>
                    <a:pt x="11999" y="2631"/>
                    <a:pt x="18351" y="0"/>
                    <a:pt x="249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285997" cy="1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27188" y="133943"/>
            <a:ext cx="5036482" cy="86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9"/>
              </a:lnSpc>
            </a:pPr>
            <a:r>
              <a:rPr lang="en-US" sz="5490" spc="-23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5429" y="1909121"/>
            <a:ext cx="3572557" cy="96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1. Capital Expenditures (CapEx)</a:t>
            </a:r>
          </a:p>
          <a:p>
            <a:pPr algn="l">
              <a:lnSpc>
                <a:spcPts val="2506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Upgrading machinery to enhance production efficiency and reduce waste.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54482" y="1259693"/>
            <a:ext cx="14611915" cy="4491393"/>
            <a:chOff x="0" y="0"/>
            <a:chExt cx="3811725" cy="11716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1725" cy="1171644"/>
            </a:xfrm>
            <a:custGeom>
              <a:avLst/>
              <a:gdLst/>
              <a:ahLst/>
              <a:cxnLst/>
              <a:rect r="r" b="b" t="t" l="l"/>
              <a:pathLst>
                <a:path h="1171644" w="3811725">
                  <a:moveTo>
                    <a:pt x="11127" y="0"/>
                  </a:moveTo>
                  <a:lnTo>
                    <a:pt x="3800599" y="0"/>
                  </a:lnTo>
                  <a:cubicBezTo>
                    <a:pt x="3803550" y="0"/>
                    <a:pt x="3806380" y="1172"/>
                    <a:pt x="3808467" y="3259"/>
                  </a:cubicBezTo>
                  <a:cubicBezTo>
                    <a:pt x="3810553" y="5346"/>
                    <a:pt x="3811725" y="8176"/>
                    <a:pt x="3811725" y="11127"/>
                  </a:cubicBezTo>
                  <a:lnTo>
                    <a:pt x="3811725" y="1160517"/>
                  </a:lnTo>
                  <a:cubicBezTo>
                    <a:pt x="3811725" y="1166662"/>
                    <a:pt x="3806744" y="1171644"/>
                    <a:pt x="3800599" y="1171644"/>
                  </a:cubicBezTo>
                  <a:lnTo>
                    <a:pt x="11127" y="1171644"/>
                  </a:lnTo>
                  <a:cubicBezTo>
                    <a:pt x="8176" y="1171644"/>
                    <a:pt x="5346" y="1170471"/>
                    <a:pt x="3259" y="1168385"/>
                  </a:cubicBezTo>
                  <a:cubicBezTo>
                    <a:pt x="1172" y="1166298"/>
                    <a:pt x="0" y="1163468"/>
                    <a:pt x="0" y="1160517"/>
                  </a:cubicBezTo>
                  <a:lnTo>
                    <a:pt x="0" y="11127"/>
                  </a:lnTo>
                  <a:cubicBezTo>
                    <a:pt x="0" y="4982"/>
                    <a:pt x="4982" y="0"/>
                    <a:pt x="111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3811725" cy="115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87"/>
                </a:lnSpc>
              </a:pPr>
            </a:p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16373" y="1612657"/>
            <a:ext cx="13458112" cy="430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376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Learning &amp; Development Resources:</a:t>
            </a:r>
          </a:p>
          <a:p>
            <a:pPr algn="l" marL="513037" indent="-256518" lvl="1">
              <a:lnSpc>
                <a:spcPts val="3778"/>
              </a:lnSpc>
              <a:buAutoNum type="arabicPeriod" startAt="1"/>
            </a:pPr>
            <a:r>
              <a:rPr lang="en-US" sz="23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Infosys Springboard Platform – </a:t>
            </a:r>
            <a:r>
              <a:rPr lang="en-US" sz="23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2" tooltip="https://infyspringboard.onwingspan.com"/>
              </a:rPr>
              <a:t>https://infyspringboard.onwingspan.com</a:t>
            </a:r>
          </a:p>
          <a:p>
            <a:pPr algn="l" marL="513037" indent="-256518" lvl="1">
              <a:lnSpc>
                <a:spcPts val="3778"/>
              </a:lnSpc>
              <a:buAutoNum type="arabicPeriod" startAt="1"/>
            </a:pPr>
            <a:r>
              <a:rPr lang="en-US" sz="23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GeeksforGeeks – Tutorials on Machine Learning, Python &amp; Deep Learning    </a:t>
            </a:r>
            <a:r>
              <a:rPr lang="en-US" sz="23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3" tooltip="https://www.geeksforgeeks.org"/>
              </a:rPr>
              <a:t>https://www.geeksforgeeks.org</a:t>
            </a:r>
          </a:p>
          <a:p>
            <a:pPr algn="l" marL="513037" indent="-256518" lvl="1">
              <a:lnSpc>
                <a:spcPts val="3778"/>
              </a:lnSpc>
              <a:buAutoNum type="arabicPeriod" startAt="1"/>
            </a:pPr>
            <a:r>
              <a:rPr lang="en-US" sz="23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Kaggle – Predictive Maintenance &amp; CMAPSS Dataset Discussions  </a:t>
            </a:r>
            <a:r>
              <a:rPr lang="en-US" sz="23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4" tooltip="https://www.kaggle.com"/>
              </a:rPr>
              <a:t>https://www.kaggle.com</a:t>
            </a:r>
          </a:p>
          <a:p>
            <a:pPr algn="l" marL="513037" indent="-256518" lvl="1">
              <a:lnSpc>
                <a:spcPts val="3778"/>
              </a:lnSpc>
              <a:buAutoNum type="arabicPeriod" startAt="1"/>
            </a:pPr>
            <a:r>
              <a:rPr lang="en-US" sz="23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Tensor</a:t>
            </a:r>
            <a:r>
              <a:rPr lang="en-US" sz="23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Flow Documentation – Model building, training, and evaluation </a:t>
            </a:r>
            <a:r>
              <a:rPr lang="en-US" sz="23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5" tooltip="https://www.tensorflow.org"/>
              </a:rPr>
              <a:t>https://www.tensorflow.org</a:t>
            </a:r>
          </a:p>
          <a:p>
            <a:pPr algn="l" marL="513037" indent="-256518" lvl="1">
              <a:lnSpc>
                <a:spcPts val="3778"/>
              </a:lnSpc>
              <a:buAutoNum type="arabicPeriod" startAt="1"/>
            </a:pPr>
            <a:r>
              <a:rPr lang="en-US" sz="23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Keras API Reference – LSTM &amp; Bi-LSTM implementation details </a:t>
            </a:r>
            <a:r>
              <a:rPr lang="en-US" sz="23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6" tooltip="https://keras.io/api"/>
              </a:rPr>
              <a:t>https://keras.io/api</a:t>
            </a:r>
          </a:p>
          <a:p>
            <a:pPr algn="l" marL="513037" indent="-256518" lvl="1">
              <a:lnSpc>
                <a:spcPts val="3778"/>
              </a:lnSpc>
              <a:buAutoNum type="arabicPeriod" startAt="1"/>
            </a:pPr>
            <a:r>
              <a:rPr lang="en-US" sz="23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Streamlit Documentation – Building interactive dashboards </a:t>
            </a:r>
            <a:r>
              <a:rPr lang="en-US" sz="2376" u="sng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  <a:hlinkClick r:id="rId7" tooltip="https://docs.streamlit.io"/>
              </a:rPr>
              <a:t>https://docs.streamlit.io</a:t>
            </a:r>
          </a:p>
          <a:p>
            <a:pPr algn="l">
              <a:lnSpc>
                <a:spcPts val="377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80871" y="4001801"/>
            <a:ext cx="14126257" cy="222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DAG4ZK0_Vws</dc:identifier>
  <dcterms:modified xsi:type="dcterms:W3CDTF">2011-08-01T06:04:30Z</dcterms:modified>
  <cp:revision>1</cp:revision>
  <dc:title>PrognosAI: AI-Driven Predictive Maintenance System Using Time-Series Sensor Data</dc:title>
</cp:coreProperties>
</file>